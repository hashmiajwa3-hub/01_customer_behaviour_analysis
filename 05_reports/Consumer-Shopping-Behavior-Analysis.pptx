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Fraunces Extra Bold" panose="020B0604020202020204" charset="0"/>
      <p:regular r:id="rId13"/>
    </p:embeddedFont>
    <p:embeddedFont>
      <p:font typeface="Nobile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372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618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Consumer Shopping Behavior Analysis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Comprehensive insights from 3,900 customer transactions across seven dimensions: revenue performance, customer segmentation, discount effectiveness, loyalty and retention, payment behavior, product performance, and seasonal trends.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04764" y="1010662"/>
            <a:ext cx="57372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585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Executive Summary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2527340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3,900</a:t>
            </a:r>
            <a:endParaRPr lang="en-US" sz="585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565916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Total Transactions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049554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dataset analyzed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311741" y="2674619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585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$233,000</a:t>
            </a:r>
          </a:p>
        </p:txBody>
      </p:sp>
      <p:sp>
        <p:nvSpPr>
          <p:cNvPr id="7" name="Text 5"/>
          <p:cNvSpPr/>
          <p:nvPr/>
        </p:nvSpPr>
        <p:spPr>
          <a:xfrm>
            <a:off x="9229130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Total Revenue</a:t>
            </a:r>
          </a:p>
        </p:txBody>
      </p:sp>
      <p:sp>
        <p:nvSpPr>
          <p:cNvPr id="8" name="Text 6"/>
          <p:cNvSpPr/>
          <p:nvPr/>
        </p:nvSpPr>
        <p:spPr>
          <a:xfrm>
            <a:off x="7456884" y="4049554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Across all customer segments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979432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585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$59.76</a:t>
            </a:r>
          </a:p>
        </p:txBody>
      </p:sp>
      <p:sp>
        <p:nvSpPr>
          <p:cNvPr id="10" name="Text 8"/>
          <p:cNvSpPr/>
          <p:nvPr/>
        </p:nvSpPr>
        <p:spPr>
          <a:xfrm>
            <a:off x="2565916" y="60112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Avg Transaction</a:t>
            </a:r>
          </a:p>
        </p:txBody>
      </p:sp>
      <p:sp>
        <p:nvSpPr>
          <p:cNvPr id="11" name="Text 9"/>
          <p:cNvSpPr/>
          <p:nvPr/>
        </p:nvSpPr>
        <p:spPr>
          <a:xfrm>
            <a:off x="793790" y="6501646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 customer basis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56884" y="4979432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585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43%</a:t>
            </a:r>
          </a:p>
        </p:txBody>
      </p:sp>
      <p:sp>
        <p:nvSpPr>
          <p:cNvPr id="13" name="Text 11"/>
          <p:cNvSpPr/>
          <p:nvPr/>
        </p:nvSpPr>
        <p:spPr>
          <a:xfrm>
            <a:off x="9229130" y="60112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Discount Rate</a:t>
            </a:r>
          </a:p>
        </p:txBody>
      </p:sp>
      <p:sp>
        <p:nvSpPr>
          <p:cNvPr id="14" name="Text 12"/>
          <p:cNvSpPr/>
          <p:nvPr/>
        </p:nvSpPr>
        <p:spPr>
          <a:xfrm>
            <a:off x="7456884" y="6501646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 all transactions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12378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585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Management Alerts</a:t>
            </a:r>
          </a:p>
        </p:txBody>
      </p:sp>
      <p:sp>
        <p:nvSpPr>
          <p:cNvPr id="3" name="Shape 1"/>
          <p:cNvSpPr/>
          <p:nvPr/>
        </p:nvSpPr>
        <p:spPr>
          <a:xfrm>
            <a:off x="793790" y="3109079"/>
            <a:ext cx="4196358" cy="3173849"/>
          </a:xfrm>
          <a:prstGeom prst="roundRect">
            <a:avLst>
              <a:gd name="adj" fmla="val 461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109079"/>
            <a:ext cx="121920" cy="3173849"/>
          </a:xfrm>
          <a:prstGeom prst="roundRect">
            <a:avLst>
              <a:gd name="adj" fmla="val 167442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366373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Discounts Not Driving Higher Spend</a:t>
            </a:r>
            <a:endParaRPr lang="en-US" sz="2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2524" y="4211122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Discounted customers spent $59.28 vs $60.13 for non-discounted. Despite 43% of transactions involving discounts, no revenue uplift achieved.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16962" y="3109079"/>
            <a:ext cx="4196358" cy="3173849"/>
          </a:xfrm>
          <a:prstGeom prst="roundRect">
            <a:avLst>
              <a:gd name="adj" fmla="val 461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109079"/>
            <a:ext cx="121920" cy="3173849"/>
          </a:xfrm>
          <a:prstGeom prst="roundRect">
            <a:avLst>
              <a:gd name="adj" fmla="val 167442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366373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Subscriptions Not Delivering Loyalty</a:t>
            </a:r>
          </a:p>
        </p:txBody>
      </p:sp>
      <p:sp>
        <p:nvSpPr>
          <p:cNvPr id="10" name="Text 8"/>
          <p:cNvSpPr/>
          <p:nvPr/>
        </p:nvSpPr>
        <p:spPr>
          <a:xfrm>
            <a:off x="5565696" y="4211122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Subscribed customers spend less ($59.49 avg) and show lower purchase frequency. Program not attracting highest-value customers.</a:t>
            </a:r>
          </a:p>
        </p:txBody>
      </p:sp>
      <p:sp>
        <p:nvSpPr>
          <p:cNvPr id="11" name="Shape 9"/>
          <p:cNvSpPr/>
          <p:nvPr/>
        </p:nvSpPr>
        <p:spPr>
          <a:xfrm>
            <a:off x="9640133" y="3109079"/>
            <a:ext cx="4196358" cy="3173849"/>
          </a:xfrm>
          <a:prstGeom prst="roundRect">
            <a:avLst>
              <a:gd name="adj" fmla="val 461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109079"/>
            <a:ext cx="121920" cy="3173849"/>
          </a:xfrm>
          <a:prstGeom prst="roundRect">
            <a:avLst>
              <a:gd name="adj" fmla="val 167442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366373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Young Adults Under-Represented</a:t>
            </a:r>
          </a:p>
        </p:txBody>
      </p:sp>
      <p:sp>
        <p:nvSpPr>
          <p:cNvPr id="14" name="Text 12"/>
          <p:cNvSpPr/>
          <p:nvPr/>
        </p:nvSpPr>
        <p:spPr>
          <a:xfrm>
            <a:off x="9988868" y="4211122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Only 571 customers (14.6% of base) vs 1,100+ in every other age group. 18–25 segment is significant untapped growth opportunity.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190171" y="3022291"/>
            <a:ext cx="2496458" cy="5530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1577561" y="976650"/>
            <a:ext cx="64031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585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Revenue Performance</a:t>
            </a:r>
          </a:p>
        </p:txBody>
      </p:sp>
      <p:sp>
        <p:nvSpPr>
          <p:cNvPr id="3" name="Text 1"/>
          <p:cNvSpPr/>
          <p:nvPr/>
        </p:nvSpPr>
        <p:spPr>
          <a:xfrm>
            <a:off x="1969447" y="2423520"/>
            <a:ext cx="30177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Gender Performance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54812" y="310118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Male customers: </a:t>
            </a:r>
          </a:p>
        </p:txBody>
      </p:sp>
      <p:sp>
        <p:nvSpPr>
          <p:cNvPr id="5" name="Text 3"/>
          <p:cNvSpPr/>
          <p:nvPr/>
        </p:nvSpPr>
        <p:spPr>
          <a:xfrm>
            <a:off x="1864850" y="3686669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2,652 customers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$157,890 revenue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$59.54 avg spend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90171" y="5021679"/>
            <a:ext cx="2496458" cy="6436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Female customers:</a:t>
            </a:r>
          </a:p>
        </p:txBody>
      </p:sp>
      <p:sp>
        <p:nvSpPr>
          <p:cNvPr id="7" name="Text 5"/>
          <p:cNvSpPr/>
          <p:nvPr/>
        </p:nvSpPr>
        <p:spPr>
          <a:xfrm>
            <a:off x="1864849" y="5703728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1,248 customers,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$75,191 revenue, 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$60.25 avg spend</a:t>
            </a:r>
          </a:p>
        </p:txBody>
      </p:sp>
      <p:sp>
        <p:nvSpPr>
          <p:cNvPr id="8" name="Text 6"/>
          <p:cNvSpPr/>
          <p:nvPr/>
        </p:nvSpPr>
        <p:spPr>
          <a:xfrm>
            <a:off x="7599521" y="248340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4177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3B4540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Product Categories</a:t>
            </a:r>
          </a:p>
        </p:txBody>
      </p:sp>
      <p:sp>
        <p:nvSpPr>
          <p:cNvPr id="10" name="Text 8"/>
          <p:cNvSpPr/>
          <p:nvPr/>
        </p:nvSpPr>
        <p:spPr>
          <a:xfrm>
            <a:off x="7599521" y="3654266"/>
            <a:ext cx="6244709" cy="453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Clothing: $104,264 (44.7%)</a:t>
            </a:r>
          </a:p>
        </p:txBody>
      </p:sp>
      <p:sp>
        <p:nvSpPr>
          <p:cNvPr id="11" name="Text 9"/>
          <p:cNvSpPr/>
          <p:nvPr/>
        </p:nvSpPr>
        <p:spPr>
          <a:xfrm>
            <a:off x="7599521" y="4311848"/>
            <a:ext cx="6244709" cy="453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Accessories: $74,200 (31.8%)</a:t>
            </a:r>
          </a:p>
        </p:txBody>
      </p:sp>
      <p:sp>
        <p:nvSpPr>
          <p:cNvPr id="12" name="Text 10"/>
          <p:cNvSpPr/>
          <p:nvPr/>
        </p:nvSpPr>
        <p:spPr>
          <a:xfrm>
            <a:off x="7599521" y="4969431"/>
            <a:ext cx="6244709" cy="453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Footwear: $36,093 (15.5%),</a:t>
            </a:r>
          </a:p>
        </p:txBody>
      </p:sp>
      <p:sp>
        <p:nvSpPr>
          <p:cNvPr id="13" name="Text 11"/>
          <p:cNvSpPr/>
          <p:nvPr/>
        </p:nvSpPr>
        <p:spPr>
          <a:xfrm>
            <a:off x="7599521" y="5627013"/>
            <a:ext cx="6244709" cy="453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Outerwear: $18,524 (7.9%)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41974" y="602315"/>
            <a:ext cx="3085147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585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Seasonal Trends</a:t>
            </a:r>
          </a:p>
        </p:txBody>
      </p:sp>
      <p:sp>
        <p:nvSpPr>
          <p:cNvPr id="5" name="Text 2"/>
          <p:cNvSpPr/>
          <p:nvPr/>
        </p:nvSpPr>
        <p:spPr>
          <a:xfrm>
            <a:off x="12949487" y="3323771"/>
            <a:ext cx="577827" cy="229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-apple-system, BlinkMacSystemFont, Segoe UI, Roboto, Helvetica Neue, Arial, sans-serif Medium" pitchFamily="34" charset="-122"/>
                <a:cs typeface="Times New Roman" panose="02020603050405020304" pitchFamily="18" charset="0"/>
              </a:rPr>
              <a:t>Revenue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644" y="1313713"/>
            <a:ext cx="8511540" cy="4479758"/>
          </a:xfrm>
          <a:prstGeom prst="rect">
            <a:avLst/>
          </a:prstGeom>
          <a:noFill/>
          <a:ln/>
        </p:spPr>
      </p:pic>
      <p:sp>
        <p:nvSpPr>
          <p:cNvPr id="10" name="Text 5"/>
          <p:cNvSpPr/>
          <p:nvPr/>
        </p:nvSpPr>
        <p:spPr>
          <a:xfrm>
            <a:off x="4228156" y="1853260"/>
            <a:ext cx="274035" cy="21278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60k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4198396" y="1487345"/>
            <a:ext cx="607590" cy="29811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-apple-system, BlinkMacSystemFont, Segoe UI, Roboto, Helvetica Neue, Arial, sans-serif Medium" pitchFamily="34" charset="-122"/>
                <a:cs typeface="Times New Roman" panose="02020603050405020304" pitchFamily="18" charset="0"/>
              </a:rPr>
              <a:t>61.6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164339" y="1934703"/>
            <a:ext cx="377455" cy="21278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58.6k</a:t>
            </a:r>
            <a:endParaRPr lang="en-US" sz="650" dirty="0"/>
          </a:p>
        </p:txBody>
      </p:sp>
      <p:sp>
        <p:nvSpPr>
          <p:cNvPr id="13" name="Text 8"/>
          <p:cNvSpPr/>
          <p:nvPr/>
        </p:nvSpPr>
        <p:spPr>
          <a:xfrm>
            <a:off x="6197236" y="1514337"/>
            <a:ext cx="607589" cy="21278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>
              <a:lnSpc>
                <a:spcPts val="650"/>
              </a:lnSpc>
            </a:pPr>
            <a:r>
              <a:rPr lang="en-US" sz="1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-apple-system, BlinkMacSystemFont, Segoe UI, Roboto, Helvetica Neue, Arial, sans-serif Medium" pitchFamily="34" charset="-122"/>
                <a:cs typeface="Times New Roman" panose="02020603050405020304" pitchFamily="18" charset="0"/>
              </a:rPr>
              <a:t>60.4</a:t>
            </a:r>
            <a:endParaRPr lang="en-US" sz="1400" b="1" dirty="0">
              <a:solidFill>
                <a:srgbClr val="000000"/>
              </a:solidFill>
              <a:latin typeface="Times New Roman" panose="02020603050405020304" pitchFamily="18" charset="0"/>
              <a:ea typeface="-apple-system, BlinkMacSystemFont, Segoe UI, Roboto, Helvetica Neue, Arial, sans-serif Medium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152232" y="1930547"/>
            <a:ext cx="377454" cy="21278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58.7k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8185128" y="1575861"/>
            <a:ext cx="450871" cy="244772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>
              <a:lnSpc>
                <a:spcPts val="650"/>
              </a:lnSpc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-apple-system, BlinkMacSystemFont, Segoe UI, Roboto, Helvetica Neue, Arial, sans-serif Medium" pitchFamily="34" charset="-122"/>
                <a:cs typeface="Times New Roman" panose="02020603050405020304" pitchFamily="18" charset="0"/>
              </a:rPr>
              <a:t>58.7</a:t>
            </a:r>
          </a:p>
        </p:txBody>
      </p:sp>
      <p:sp>
        <p:nvSpPr>
          <p:cNvPr id="16" name="Text 11"/>
          <p:cNvSpPr/>
          <p:nvPr/>
        </p:nvSpPr>
        <p:spPr>
          <a:xfrm>
            <a:off x="10140123" y="2098050"/>
            <a:ext cx="377455" cy="212789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55.8k</a:t>
            </a:r>
            <a:endParaRPr lang="en-US" sz="650" dirty="0"/>
          </a:p>
        </p:txBody>
      </p:sp>
      <p:sp>
        <p:nvSpPr>
          <p:cNvPr id="17" name="Text 12"/>
          <p:cNvSpPr/>
          <p:nvPr/>
        </p:nvSpPr>
        <p:spPr>
          <a:xfrm>
            <a:off x="10173022" y="1575861"/>
            <a:ext cx="492954" cy="26381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>
              <a:lnSpc>
                <a:spcPts val="650"/>
              </a:lnSpc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-apple-system, BlinkMacSystemFont, Segoe UI, Roboto, Helvetica Neue, Arial, sans-serif Medium" pitchFamily="34" charset="-122"/>
                <a:cs typeface="Times New Roman" panose="02020603050405020304" pitchFamily="18" charset="0"/>
              </a:rPr>
              <a:t>58.4</a:t>
            </a:r>
          </a:p>
        </p:txBody>
      </p:sp>
      <p:sp>
        <p:nvSpPr>
          <p:cNvPr id="18" name="Shape 13"/>
          <p:cNvSpPr/>
          <p:nvPr/>
        </p:nvSpPr>
        <p:spPr>
          <a:xfrm>
            <a:off x="3057644" y="6682621"/>
            <a:ext cx="8514993" cy="15240"/>
          </a:xfrm>
          <a:prstGeom prst="roundRect">
            <a:avLst>
              <a:gd name="adj" fmla="val 728784"/>
            </a:avLst>
          </a:prstGeom>
          <a:solidFill>
            <a:srgbClr val="CED9CE"/>
          </a:solidFill>
          <a:ln/>
        </p:spPr>
      </p:sp>
      <p:sp>
        <p:nvSpPr>
          <p:cNvPr id="19" name="Shape 14"/>
          <p:cNvSpPr/>
          <p:nvPr/>
        </p:nvSpPr>
        <p:spPr>
          <a:xfrm>
            <a:off x="4727853" y="6312456"/>
            <a:ext cx="15240" cy="370165"/>
          </a:xfrm>
          <a:prstGeom prst="roundRect">
            <a:avLst>
              <a:gd name="adj" fmla="val 728784"/>
            </a:avLst>
          </a:prstGeom>
          <a:solidFill>
            <a:srgbClr val="CED9CE"/>
          </a:solidFill>
          <a:ln/>
        </p:spPr>
      </p:sp>
      <p:sp>
        <p:nvSpPr>
          <p:cNvPr id="20" name="Shape 15"/>
          <p:cNvSpPr/>
          <p:nvPr/>
        </p:nvSpPr>
        <p:spPr>
          <a:xfrm>
            <a:off x="4596646" y="6543794"/>
            <a:ext cx="277654" cy="277654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</p:sp>
      <p:sp>
        <p:nvSpPr>
          <p:cNvPr id="21" name="Text 16"/>
          <p:cNvSpPr/>
          <p:nvPr/>
        </p:nvSpPr>
        <p:spPr>
          <a:xfrm>
            <a:off x="4642961" y="6566952"/>
            <a:ext cx="185023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3964186" y="5803702"/>
            <a:ext cx="154257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Fall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180993" y="6036826"/>
            <a:ext cx="3108960" cy="152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$60,018 revenue, $61.56 avg spend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447592" y="6682621"/>
            <a:ext cx="15240" cy="370165"/>
          </a:xfrm>
          <a:prstGeom prst="roundRect">
            <a:avLst>
              <a:gd name="adj" fmla="val 728784"/>
            </a:avLst>
          </a:prstGeom>
          <a:solidFill>
            <a:srgbClr val="CED9CE"/>
          </a:solidFill>
          <a:ln/>
        </p:spPr>
      </p:sp>
      <p:sp>
        <p:nvSpPr>
          <p:cNvPr id="25" name="Shape 20"/>
          <p:cNvSpPr/>
          <p:nvPr/>
        </p:nvSpPr>
        <p:spPr>
          <a:xfrm>
            <a:off x="6316385" y="6543794"/>
            <a:ext cx="277654" cy="277654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</p:sp>
      <p:sp>
        <p:nvSpPr>
          <p:cNvPr id="26" name="Text 21"/>
          <p:cNvSpPr/>
          <p:nvPr/>
        </p:nvSpPr>
        <p:spPr>
          <a:xfrm>
            <a:off x="6362700" y="6566952"/>
            <a:ext cx="185023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5683925" y="7176135"/>
            <a:ext cx="154257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Winter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900732" y="7409259"/>
            <a:ext cx="3108960" cy="152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$58,607 revenue, $60.36 avg spend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8167330" y="6312456"/>
            <a:ext cx="15240" cy="370165"/>
          </a:xfrm>
          <a:prstGeom prst="roundRect">
            <a:avLst>
              <a:gd name="adj" fmla="val 728784"/>
            </a:avLst>
          </a:prstGeom>
          <a:solidFill>
            <a:srgbClr val="CED9CE"/>
          </a:solidFill>
          <a:ln/>
        </p:spPr>
      </p:sp>
      <p:sp>
        <p:nvSpPr>
          <p:cNvPr id="30" name="Shape 25"/>
          <p:cNvSpPr/>
          <p:nvPr/>
        </p:nvSpPr>
        <p:spPr>
          <a:xfrm>
            <a:off x="8036123" y="6543794"/>
            <a:ext cx="277654" cy="277654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</p:sp>
      <p:sp>
        <p:nvSpPr>
          <p:cNvPr id="31" name="Text 26"/>
          <p:cNvSpPr/>
          <p:nvPr/>
        </p:nvSpPr>
        <p:spPr>
          <a:xfrm>
            <a:off x="8082439" y="6566952"/>
            <a:ext cx="185023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1450" dirty="0"/>
          </a:p>
        </p:txBody>
      </p:sp>
      <p:sp>
        <p:nvSpPr>
          <p:cNvPr id="32" name="Text 27"/>
          <p:cNvSpPr/>
          <p:nvPr/>
        </p:nvSpPr>
        <p:spPr>
          <a:xfrm>
            <a:off x="7403663" y="5803702"/>
            <a:ext cx="154257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Spring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620470" y="6036826"/>
            <a:ext cx="3108960" cy="152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$58,679 revenue, $58.74 avg spend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9887069" y="6682621"/>
            <a:ext cx="15240" cy="370165"/>
          </a:xfrm>
          <a:prstGeom prst="roundRect">
            <a:avLst>
              <a:gd name="adj" fmla="val 728784"/>
            </a:avLst>
          </a:prstGeom>
          <a:solidFill>
            <a:srgbClr val="CED9CE"/>
          </a:solidFill>
          <a:ln/>
        </p:spPr>
      </p:sp>
      <p:sp>
        <p:nvSpPr>
          <p:cNvPr id="35" name="Shape 30"/>
          <p:cNvSpPr/>
          <p:nvPr/>
        </p:nvSpPr>
        <p:spPr>
          <a:xfrm>
            <a:off x="9755862" y="6543794"/>
            <a:ext cx="277654" cy="277654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</p:sp>
      <p:sp>
        <p:nvSpPr>
          <p:cNvPr id="36" name="Text 31"/>
          <p:cNvSpPr/>
          <p:nvPr/>
        </p:nvSpPr>
        <p:spPr>
          <a:xfrm>
            <a:off x="9802178" y="6566952"/>
            <a:ext cx="185023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1450" dirty="0"/>
          </a:p>
        </p:txBody>
      </p:sp>
      <p:sp>
        <p:nvSpPr>
          <p:cNvPr id="37" name="Text 32"/>
          <p:cNvSpPr/>
          <p:nvPr/>
        </p:nvSpPr>
        <p:spPr>
          <a:xfrm>
            <a:off x="9123402" y="7176135"/>
            <a:ext cx="154257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Summer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8340209" y="7409259"/>
            <a:ext cx="3109079" cy="152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$55,777 revenue, $58.41 avg spend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3057644" y="7637026"/>
            <a:ext cx="8514993" cy="152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Fall is the strongest season, while Summer is the weakest and has the most room for improvement.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2049" y="428982"/>
            <a:ext cx="3788331" cy="38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585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Customer Segmentation</a:t>
            </a: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049" y="1301728"/>
            <a:ext cx="8503920" cy="447574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062049" y="5787033"/>
            <a:ext cx="4219575" cy="783431"/>
          </a:xfrm>
          <a:prstGeom prst="roundRect">
            <a:avLst>
              <a:gd name="adj" fmla="val 14162"/>
            </a:avLst>
          </a:prstGeom>
          <a:solidFill>
            <a:srgbClr val="E8F3E8"/>
          </a:solidFill>
          <a:ln/>
        </p:spPr>
      </p:sp>
      <p:sp>
        <p:nvSpPr>
          <p:cNvPr id="11" name="Text 6"/>
          <p:cNvSpPr/>
          <p:nvPr/>
        </p:nvSpPr>
        <p:spPr>
          <a:xfrm>
            <a:off x="3185279" y="5910263"/>
            <a:ext cx="1578173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Young Adult (18–25)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185279" y="6142911"/>
            <a:ext cx="3973116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1200" dirty="0">
                <a:solidFill>
                  <a:srgbClr val="405449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571 customers, $34,630 revenue, $60.65 avg spend, 24.63 prev purchases</a:t>
            </a:r>
          </a:p>
        </p:txBody>
      </p:sp>
      <p:sp>
        <p:nvSpPr>
          <p:cNvPr id="13" name="Shape 8"/>
          <p:cNvSpPr/>
          <p:nvPr/>
        </p:nvSpPr>
        <p:spPr>
          <a:xfrm>
            <a:off x="7220010" y="5830049"/>
            <a:ext cx="4219694" cy="783431"/>
          </a:xfrm>
          <a:prstGeom prst="roundRect">
            <a:avLst>
              <a:gd name="adj" fmla="val 14162"/>
            </a:avLst>
          </a:prstGeom>
          <a:solidFill>
            <a:srgbClr val="E8F3E8"/>
          </a:solidFill>
          <a:ln/>
        </p:spPr>
      </p:sp>
      <p:sp>
        <p:nvSpPr>
          <p:cNvPr id="14" name="Text 9"/>
          <p:cNvSpPr/>
          <p:nvPr/>
        </p:nvSpPr>
        <p:spPr>
          <a:xfrm>
            <a:off x="7471767" y="5910263"/>
            <a:ext cx="1540907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Adult (26–40)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471767" y="6142911"/>
            <a:ext cx="3973235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1200" dirty="0">
                <a:solidFill>
                  <a:srgbClr val="405449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1,103 customers, $65,842 revenue, $59.69 avg spend, 25.04 prev purchases</a:t>
            </a:r>
          </a:p>
        </p:txBody>
      </p:sp>
      <p:sp>
        <p:nvSpPr>
          <p:cNvPr id="16" name="Shape 11"/>
          <p:cNvSpPr/>
          <p:nvPr/>
        </p:nvSpPr>
        <p:spPr>
          <a:xfrm>
            <a:off x="3062049" y="6637377"/>
            <a:ext cx="4219575" cy="783431"/>
          </a:xfrm>
          <a:prstGeom prst="roundRect">
            <a:avLst>
              <a:gd name="adj" fmla="val 14162"/>
            </a:avLst>
          </a:prstGeom>
          <a:solidFill>
            <a:srgbClr val="E8F3E8"/>
          </a:solidFill>
          <a:ln/>
        </p:spPr>
      </p:sp>
      <p:sp>
        <p:nvSpPr>
          <p:cNvPr id="17" name="Text 12"/>
          <p:cNvSpPr/>
          <p:nvPr/>
        </p:nvSpPr>
        <p:spPr>
          <a:xfrm>
            <a:off x="3185279" y="6760607"/>
            <a:ext cx="1607225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Middle-Aged (41–55)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185279" y="6993255"/>
            <a:ext cx="3973116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1200" dirty="0">
                <a:solidFill>
                  <a:srgbClr val="405449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1,121 customers, $67,353 revenue, $60.08 avg spend, 25.19 prev purchases</a:t>
            </a:r>
          </a:p>
        </p:txBody>
      </p:sp>
      <p:sp>
        <p:nvSpPr>
          <p:cNvPr id="19" name="Shape 14"/>
          <p:cNvSpPr/>
          <p:nvPr/>
        </p:nvSpPr>
        <p:spPr>
          <a:xfrm>
            <a:off x="7158395" y="6505717"/>
            <a:ext cx="4219694" cy="783431"/>
          </a:xfrm>
          <a:prstGeom prst="roundRect">
            <a:avLst>
              <a:gd name="adj" fmla="val 14162"/>
            </a:avLst>
          </a:prstGeom>
          <a:solidFill>
            <a:srgbClr val="E8F3E8"/>
          </a:solidFill>
          <a:ln/>
        </p:spPr>
      </p:sp>
      <p:sp>
        <p:nvSpPr>
          <p:cNvPr id="20" name="Text 15"/>
          <p:cNvSpPr/>
          <p:nvPr/>
        </p:nvSpPr>
        <p:spPr>
          <a:xfrm>
            <a:off x="7471767" y="6760607"/>
            <a:ext cx="1540907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Senior (56–70)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471767" y="6993255"/>
            <a:ext cx="3973235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1200" dirty="0">
                <a:solidFill>
                  <a:srgbClr val="405449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1,105 customers, $65,256 revenue, $59.06 avg spend, 26.19 prev purchases</a:t>
            </a:r>
          </a:p>
        </p:txBody>
      </p:sp>
      <p:sp>
        <p:nvSpPr>
          <p:cNvPr id="22" name="Text 17"/>
          <p:cNvSpPr/>
          <p:nvPr/>
        </p:nvSpPr>
        <p:spPr>
          <a:xfrm>
            <a:off x="783772" y="7436275"/>
            <a:ext cx="13091886" cy="23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The chart highlights customer count and revenue by age segment. Middle-Aged and Adult customers lead in revenue, while Young Adult is the smallest segment.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5081" y="829619"/>
            <a:ext cx="36929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585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Discount Impact Analysis</a:t>
            </a:r>
          </a:p>
        </p:txBody>
      </p:sp>
      <p:sp>
        <p:nvSpPr>
          <p:cNvPr id="3" name="Text 1"/>
          <p:cNvSpPr/>
          <p:nvPr/>
        </p:nvSpPr>
        <p:spPr>
          <a:xfrm>
            <a:off x="2818845" y="1861304"/>
            <a:ext cx="170426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Without Discount (57%)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57714" y="2141438"/>
            <a:ext cx="4419135" cy="225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2,223 customers, $133,670 total revenue, $60.13 avg spend, 25.06 prev purchases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61171" y="1861304"/>
            <a:ext cx="147756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40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With Discount (43%)</a:t>
            </a:r>
          </a:p>
        </p:txBody>
      </p:sp>
      <p:sp>
        <p:nvSpPr>
          <p:cNvPr id="6" name="Text 4"/>
          <p:cNvSpPr/>
          <p:nvPr/>
        </p:nvSpPr>
        <p:spPr>
          <a:xfrm>
            <a:off x="7461171" y="2119444"/>
            <a:ext cx="377440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b="1" dirty="0">
                <a:solidFill>
                  <a:srgbClr val="405449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1,677 customers, $99,411 total revenue, $59.28 avg spend, 25.74 prev purchases</a:t>
            </a: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49" y="2807298"/>
            <a:ext cx="7825740" cy="4118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451917" y="3495946"/>
            <a:ext cx="316633" cy="195643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134k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4635015" y="4080235"/>
            <a:ext cx="286547" cy="195643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60.1</a:t>
            </a:r>
            <a:endParaRPr lang="en-US" sz="650" dirty="0"/>
          </a:p>
        </p:txBody>
      </p:sp>
      <p:sp>
        <p:nvSpPr>
          <p:cNvPr id="16" name="Text 11"/>
          <p:cNvSpPr/>
          <p:nvPr/>
        </p:nvSpPr>
        <p:spPr>
          <a:xfrm>
            <a:off x="8816554" y="5272183"/>
            <a:ext cx="347042" cy="195643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99.4k</a:t>
            </a:r>
            <a:endParaRPr lang="en-US" sz="650" dirty="0"/>
          </a:p>
        </p:txBody>
      </p:sp>
      <p:sp>
        <p:nvSpPr>
          <p:cNvPr id="17" name="Text 12"/>
          <p:cNvSpPr/>
          <p:nvPr/>
        </p:nvSpPr>
        <p:spPr>
          <a:xfrm>
            <a:off x="4648168" y="5856471"/>
            <a:ext cx="286547" cy="195644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59.3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1014" y="544569"/>
            <a:ext cx="51850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585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Subscription Program Performance</a:t>
            </a:r>
          </a:p>
        </p:txBody>
      </p:sp>
      <p:sp>
        <p:nvSpPr>
          <p:cNvPr id="3" name="Text 1"/>
          <p:cNvSpPr/>
          <p:nvPr/>
        </p:nvSpPr>
        <p:spPr>
          <a:xfrm>
            <a:off x="3402449" y="1544598"/>
            <a:ext cx="2561273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405449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27%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974306" y="201799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00"/>
              </a:lnSpc>
            </a:pPr>
            <a:r>
              <a:rPr lang="en-US" sz="1400" b="1" dirty="0">
                <a:solidFill>
                  <a:srgbClr val="405449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Subscription Rate</a:t>
            </a:r>
          </a:p>
        </p:txBody>
      </p:sp>
      <p:sp>
        <p:nvSpPr>
          <p:cNvPr id="5" name="Text 3"/>
          <p:cNvSpPr/>
          <p:nvPr/>
        </p:nvSpPr>
        <p:spPr>
          <a:xfrm>
            <a:off x="3402449" y="2444950"/>
            <a:ext cx="25612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1,053 of 3,900 customers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34564" y="1544598"/>
            <a:ext cx="2561273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00"/>
              </a:lnSpc>
            </a:pPr>
            <a:r>
              <a:rPr lang="en-US" sz="2900" b="1" dirty="0">
                <a:solidFill>
                  <a:srgbClr val="405449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$59.49</a:t>
            </a:r>
          </a:p>
        </p:txBody>
      </p:sp>
      <p:sp>
        <p:nvSpPr>
          <p:cNvPr id="7" name="Text 5"/>
          <p:cNvSpPr/>
          <p:nvPr/>
        </p:nvSpPr>
        <p:spPr>
          <a:xfrm>
            <a:off x="6606421" y="201799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00"/>
              </a:lnSpc>
            </a:pPr>
            <a:r>
              <a:rPr lang="en-US" sz="1600" b="1" dirty="0">
                <a:solidFill>
                  <a:srgbClr val="405449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Avg Spend</a:t>
            </a:r>
          </a:p>
        </p:txBody>
      </p:sp>
      <p:sp>
        <p:nvSpPr>
          <p:cNvPr id="8" name="Text 6"/>
          <p:cNvSpPr/>
          <p:nvPr/>
        </p:nvSpPr>
        <p:spPr>
          <a:xfrm>
            <a:off x="6105405" y="2446027"/>
            <a:ext cx="25612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Subscribed </a:t>
            </a:r>
            <a:r>
              <a:rPr lang="en-US" sz="1200" dirty="0" smtClean="0">
                <a:solidFill>
                  <a:srgbClr val="405449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customers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66678" y="1603044"/>
            <a:ext cx="2561273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00"/>
              </a:lnSpc>
            </a:pPr>
            <a:r>
              <a:rPr lang="en-US" sz="2900" b="1" dirty="0">
                <a:solidFill>
                  <a:srgbClr val="405449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89.77</a:t>
            </a:r>
          </a:p>
        </p:txBody>
      </p:sp>
      <p:sp>
        <p:nvSpPr>
          <p:cNvPr id="10" name="Text 8"/>
          <p:cNvSpPr/>
          <p:nvPr/>
        </p:nvSpPr>
        <p:spPr>
          <a:xfrm>
            <a:off x="9268866" y="2017990"/>
            <a:ext cx="1356893" cy="250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00"/>
              </a:lnSpc>
            </a:pPr>
            <a:r>
              <a:rPr lang="en-US" sz="1400" b="1" dirty="0">
                <a:solidFill>
                  <a:srgbClr val="405449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Days Between</a:t>
            </a:r>
          </a:p>
        </p:txBody>
      </p:sp>
      <p:sp>
        <p:nvSpPr>
          <p:cNvPr id="11" name="Text 9"/>
          <p:cNvSpPr/>
          <p:nvPr/>
        </p:nvSpPr>
        <p:spPr>
          <a:xfrm>
            <a:off x="8666677" y="2240865"/>
            <a:ext cx="25612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00"/>
              </a:lnSpc>
            </a:pPr>
            <a:r>
              <a:rPr lang="en-US" sz="1200" dirty="0">
                <a:solidFill>
                  <a:srgbClr val="405449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Purchase frequency</a:t>
            </a: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911" y="2614626"/>
            <a:ext cx="7825740" cy="401986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40103" y="5069019"/>
            <a:ext cx="243107" cy="241015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27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044781" y="3933778"/>
            <a:ext cx="376324" cy="241015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59.5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516067" y="2875758"/>
            <a:ext cx="376325" cy="241015"/>
          </a:xfrm>
          <a:prstGeom prst="rect">
            <a:avLst/>
          </a:prstGeom>
          <a:noFill/>
          <a:ln/>
        </p:spPr>
        <p:txBody>
          <a:bodyPr wrap="none" lIns="30480" tIns="30480" rIns="30480" bIns="3048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89.8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402448" y="6874788"/>
            <a:ext cx="8876637" cy="334566"/>
          </a:xfrm>
          <a:prstGeom prst="roundRect">
            <a:avLst>
              <a:gd name="adj" fmla="val 30509"/>
            </a:avLst>
          </a:prstGeom>
          <a:solidFill>
            <a:srgbClr val="CCE6D1"/>
          </a:solidFill>
          <a:ln/>
        </p:spPr>
      </p:sp>
      <p:sp>
        <p:nvSpPr>
          <p:cNvPr id="21" name="Text 16"/>
          <p:cNvSpPr/>
          <p:nvPr/>
        </p:nvSpPr>
        <p:spPr>
          <a:xfrm>
            <a:off x="3770828" y="6959798"/>
            <a:ext cx="734377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71.8% of loyal customers (26+ purchases) have not subscribed. Program failing to attract most valuable buyers.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8454" y="947200"/>
            <a:ext cx="7467362" cy="614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585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Payment &amp; Shipping Behavior</a:t>
            </a:r>
          </a:p>
        </p:txBody>
      </p:sp>
      <p:sp>
        <p:nvSpPr>
          <p:cNvPr id="3" name="Text 1"/>
          <p:cNvSpPr/>
          <p:nvPr/>
        </p:nvSpPr>
        <p:spPr>
          <a:xfrm>
            <a:off x="688659" y="2452915"/>
            <a:ext cx="2373856" cy="35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B4540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Payment Methods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8" y="3001089"/>
            <a:ext cx="6385560" cy="3639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24276" y="3357043"/>
            <a:ext cx="270310" cy="17815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60.9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70786" y="3874050"/>
            <a:ext cx="270310" cy="17815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60.1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190351" y="4391056"/>
            <a:ext cx="270310" cy="17815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230176" y="4908062"/>
            <a:ext cx="270310" cy="17815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261103" y="5425068"/>
            <a:ext cx="177231" cy="17815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231817" y="5942075"/>
            <a:ext cx="270310" cy="17815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59.7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562850" y="2501741"/>
            <a:ext cx="245959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00" b="1" dirty="0">
                <a:solidFill>
                  <a:srgbClr val="3B4540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Shipping Types</a:t>
            </a: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850" y="3001089"/>
            <a:ext cx="6385560" cy="36396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185997" y="3408744"/>
            <a:ext cx="270310" cy="17815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60.7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3163344" y="4029151"/>
            <a:ext cx="270311" cy="17815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60.5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3153913" y="4649559"/>
            <a:ext cx="270310" cy="17815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60.4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3115365" y="5269967"/>
            <a:ext cx="270309" cy="17815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59.9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12999379" y="5890374"/>
            <a:ext cx="270310" cy="17815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58.5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666" y="644723"/>
            <a:ext cx="7800618" cy="67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585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Strategic Recommendations</a:t>
            </a:r>
          </a:p>
        </p:txBody>
      </p:sp>
      <p:sp>
        <p:nvSpPr>
          <p:cNvPr id="3" name="Text 1"/>
          <p:cNvSpPr/>
          <p:nvPr/>
        </p:nvSpPr>
        <p:spPr>
          <a:xfrm>
            <a:off x="758666" y="1736527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666" y="2074545"/>
            <a:ext cx="6452949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758666" y="2243852"/>
            <a:ext cx="4215289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Restructure Discount Strategy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8666" y="2706886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Shift to behavior-triggered discounts only. Eliminate blanket discounting on top-selling items.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18784" y="1736527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18784" y="2074545"/>
            <a:ext cx="6452949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7418784" y="2243852"/>
            <a:ext cx="4263985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Revamp Subscription Program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18784" y="2706886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Redesign value proposition with spend-linked rewards and exclusive product access.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666" y="3754993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666" y="4093012"/>
            <a:ext cx="6452949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758666" y="4262318"/>
            <a:ext cx="438995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Acquire Young Adult Customers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58666" y="4725353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Targeted digital campaign across social platforms with category-relevant products.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18784" y="3754993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18784" y="4093012"/>
            <a:ext cx="6452949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7" name="Text 15"/>
          <p:cNvSpPr/>
          <p:nvPr/>
        </p:nvSpPr>
        <p:spPr>
          <a:xfrm>
            <a:off x="7418784" y="4262318"/>
            <a:ext cx="3762256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Summer Revenue Recovery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18784" y="4725353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Launch Summer-specific campaign around Accessories and product bundles.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8666" y="5773460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58666" y="6111478"/>
            <a:ext cx="6452949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1" name="Text 19"/>
          <p:cNvSpPr/>
          <p:nvPr/>
        </p:nvSpPr>
        <p:spPr>
          <a:xfrm>
            <a:off x="758666" y="6280785"/>
            <a:ext cx="3591401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Protect Clothing Category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58666" y="6743819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Reduce discounting on high-performing items like Blouse and Socks.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18784" y="5773460"/>
            <a:ext cx="216694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06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418784" y="6111478"/>
            <a:ext cx="6452949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5" name="Text 23"/>
          <p:cNvSpPr/>
          <p:nvPr/>
        </p:nvSpPr>
        <p:spPr>
          <a:xfrm>
            <a:off x="7418784" y="6280785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Leverage Reviews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418784" y="6743819"/>
            <a:ext cx="6452949" cy="678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post-purchase review program. Feature high-rated products prominently.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607</Words>
  <Application>Microsoft Office PowerPoint</Application>
  <PresentationFormat>Custom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Fraunces Extra Bold</vt:lpstr>
      <vt:lpstr>Fraunces Light</vt:lpstr>
      <vt:lpstr>Arial</vt:lpstr>
      <vt:lpstr>Nobile</vt:lpstr>
      <vt:lpstr>Times New Roman</vt:lpstr>
      <vt:lpstr>Calibri</vt:lpstr>
      <vt:lpstr>-apple-system, BlinkMacSystemFont, Segoe UI, Roboto, Helvetica Neue, Arial, sans-serif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Ajwa Hashmi</dc:creator>
  <cp:lastModifiedBy>Ajwa Hashmi</cp:lastModifiedBy>
  <cp:revision>5</cp:revision>
  <dcterms:created xsi:type="dcterms:W3CDTF">2026-03-25T16:17:41Z</dcterms:created>
  <dcterms:modified xsi:type="dcterms:W3CDTF">2026-03-25T16:53:11Z</dcterms:modified>
</cp:coreProperties>
</file>